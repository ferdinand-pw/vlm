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359f8077d487c" /><Relationship Type="http://schemas.openxmlformats.org/officeDocument/2006/relationships/extended-properties" Target="/docProps/app.xml" Id="Rf5fedef0314c4e17" /><Relationship Type="http://schemas.openxmlformats.org/officeDocument/2006/relationships/officeDocument" Target="/ppt/presentation.xml" Id="R13c9728699d2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d6d4cbbec40c1"/>
  </p:sldMasterIdLst>
  <p:notesMasterIdLst>
    <p:notesMasterId xmlns:r="http://schemas.openxmlformats.org/officeDocument/2006/relationships" r:id="R4452a051086f45ac"/>
  </p:notesMasterIdLst>
  <p:sldIdLst>
    <p:sldId xmlns:r="http://schemas.openxmlformats.org/officeDocument/2006/relationships" id="256" r:id="Rdb6a863ba0dd4645"/>
    <p:sldId xmlns:r="http://schemas.openxmlformats.org/officeDocument/2006/relationships" id="257" r:id="R4b02798de7704c1f"/>
    <p:sldId xmlns:r="http://schemas.openxmlformats.org/officeDocument/2006/relationships" id="258" r:id="R3a956c45ec3549aa"/>
    <p:sldId xmlns:r="http://schemas.openxmlformats.org/officeDocument/2006/relationships" id="259" r:id="Ra5565f8ed7294e94"/>
    <p:sldId xmlns:r="http://schemas.openxmlformats.org/officeDocument/2006/relationships" id="260" r:id="R0a6909b38fd94261"/>
    <p:sldId xmlns:r="http://schemas.openxmlformats.org/officeDocument/2006/relationships" id="261" r:id="R00ae3d0304d34e9c"/>
    <p:sldId xmlns:r="http://schemas.openxmlformats.org/officeDocument/2006/relationships" id="262" r:id="Rfd511925a1cc4094"/>
    <p:sldId xmlns:r="http://schemas.openxmlformats.org/officeDocument/2006/relationships" id="263" r:id="R83464787662e434c"/>
    <p:sldId xmlns:r="http://schemas.openxmlformats.org/officeDocument/2006/relationships" id="264" r:id="R8c4eb469fc694d25"/>
    <p:sldId xmlns:r="http://schemas.openxmlformats.org/officeDocument/2006/relationships" id="265" r:id="R386d25127ae34ad3"/>
    <p:sldId xmlns:r="http://schemas.openxmlformats.org/officeDocument/2006/relationships" id="266" r:id="Rd3841d98482e434c"/>
    <p:sldId xmlns:r="http://schemas.openxmlformats.org/officeDocument/2006/relationships" id="267" r:id="Rc318762884e948b5"/>
    <p:sldId xmlns:r="http://schemas.openxmlformats.org/officeDocument/2006/relationships" id="268" r:id="R71d74d5dd1754194"/>
    <p:sldId xmlns:r="http://schemas.openxmlformats.org/officeDocument/2006/relationships" id="269" r:id="R4172b7774503458b"/>
    <p:sldId xmlns:r="http://schemas.openxmlformats.org/officeDocument/2006/relationships" id="270" r:id="Raf0491ee0d7a49c4"/>
    <p:sldId xmlns:r="http://schemas.openxmlformats.org/officeDocument/2006/relationships" id="271" r:id="R26d6d6a3a10d415c"/>
    <p:sldId xmlns:r="http://schemas.openxmlformats.org/officeDocument/2006/relationships" id="272" r:id="Rf78911cb375243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957c556c5448f8" /><Relationship Type="http://schemas.openxmlformats.org/officeDocument/2006/relationships/slideMaster" Target="/ppt/slideMasters/slideMaster1.xml" Id="Rdced6d4cbbec40c1" /><Relationship Type="http://schemas.openxmlformats.org/officeDocument/2006/relationships/notesMaster" Target="/ppt/notesMasters/notesMaster1.xml" Id="R4452a051086f45ac" /><Relationship Type="http://schemas.openxmlformats.org/officeDocument/2006/relationships/presProps" Target="/ppt/presProps.xml" Id="Ree3e46c1ea9b4f76" /><Relationship Type="http://schemas.openxmlformats.org/officeDocument/2006/relationships/tableStyles" Target="/ppt/tableStyles.xml" Id="Rdee6f3eb0b4f4310" /><Relationship Type="http://schemas.openxmlformats.org/officeDocument/2006/relationships/slide" Target="/ppt/slides/slide1.xml" Id="Rdb6a863ba0dd4645" /><Relationship Type="http://schemas.openxmlformats.org/officeDocument/2006/relationships/slide" Target="/ppt/slides/slide2.xml" Id="R4b02798de7704c1f" /><Relationship Type="http://schemas.openxmlformats.org/officeDocument/2006/relationships/slide" Target="/ppt/slides/slide3.xml" Id="R3a956c45ec3549aa" /><Relationship Type="http://schemas.openxmlformats.org/officeDocument/2006/relationships/slide" Target="/ppt/slides/slide4.xml" Id="Ra5565f8ed7294e94" /><Relationship Type="http://schemas.openxmlformats.org/officeDocument/2006/relationships/slide" Target="/ppt/slides/slide5.xml" Id="R0a6909b38fd94261" /><Relationship Type="http://schemas.openxmlformats.org/officeDocument/2006/relationships/slide" Target="/ppt/slides/slide6.xml" Id="R00ae3d0304d34e9c" /><Relationship Type="http://schemas.openxmlformats.org/officeDocument/2006/relationships/slide" Target="/ppt/slides/slide7.xml" Id="Rfd511925a1cc4094" /><Relationship Type="http://schemas.openxmlformats.org/officeDocument/2006/relationships/slide" Target="/ppt/slides/slide8.xml" Id="R83464787662e434c" /><Relationship Type="http://schemas.openxmlformats.org/officeDocument/2006/relationships/slide" Target="/ppt/slides/slide9.xml" Id="R8c4eb469fc694d25" /><Relationship Type="http://schemas.openxmlformats.org/officeDocument/2006/relationships/slide" Target="/ppt/slides/slide10.xml" Id="R386d25127ae34ad3" /><Relationship Type="http://schemas.openxmlformats.org/officeDocument/2006/relationships/slide" Target="/ppt/slides/slide11.xml" Id="Rd3841d98482e434c" /><Relationship Type="http://schemas.openxmlformats.org/officeDocument/2006/relationships/slide" Target="/ppt/slides/slide12.xml" Id="Rc318762884e948b5" /><Relationship Type="http://schemas.openxmlformats.org/officeDocument/2006/relationships/slide" Target="/ppt/slides/slide13.xml" Id="R71d74d5dd1754194" /><Relationship Type="http://schemas.openxmlformats.org/officeDocument/2006/relationships/slide" Target="/ppt/slides/slide14.xml" Id="R4172b7774503458b" /><Relationship Type="http://schemas.openxmlformats.org/officeDocument/2006/relationships/slide" Target="/ppt/slides/slide15.xml" Id="Raf0491ee0d7a49c4" /><Relationship Type="http://schemas.openxmlformats.org/officeDocument/2006/relationships/slide" Target="/ppt/slides/slide16.xml" Id="R26d6d6a3a10d415c" /><Relationship Type="http://schemas.openxmlformats.org/officeDocument/2006/relationships/slide" Target="/ppt/slides/slide17.xml" Id="Rf78911cb375243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2420ae8af142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6afbc78d74db2" /><Relationship Type="http://schemas.openxmlformats.org/officeDocument/2006/relationships/notesMaster" Target="/ppt/notesMasters/notesMaster1.xml" Id="R9480999b75f64a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8712e370884bc1" /><Relationship Type="http://schemas.openxmlformats.org/officeDocument/2006/relationships/notesMaster" Target="/ppt/notesMasters/notesMaster1.xml" Id="Rd0b00dbb534b4f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29405ed01e459d" /><Relationship Type="http://schemas.openxmlformats.org/officeDocument/2006/relationships/notesMaster" Target="/ppt/notesMasters/notesMaster1.xml" Id="R92d6f97b5ed146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59495e09414ed1" /><Relationship Type="http://schemas.openxmlformats.org/officeDocument/2006/relationships/notesMaster" Target="/ppt/notesMasters/notesMaster1.xml" Id="Rf75c50ad04c44e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1cf9df640e4f2e" /><Relationship Type="http://schemas.openxmlformats.org/officeDocument/2006/relationships/notesMaster" Target="/ppt/notesMasters/notesMaster1.xml" Id="R187606eb157c4f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7bed012a8f4f09" /><Relationship Type="http://schemas.openxmlformats.org/officeDocument/2006/relationships/notesMaster" Target="/ppt/notesMasters/notesMaster1.xml" Id="Reaacb9fc1527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7970396f30492c" /><Relationship Type="http://schemas.openxmlformats.org/officeDocument/2006/relationships/notesMaster" Target="/ppt/notesMasters/notesMaster1.xml" Id="R625e72056aea4f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adb5385abb477f" /><Relationship Type="http://schemas.openxmlformats.org/officeDocument/2006/relationships/notesMaster" Target="/ppt/notesMasters/notesMaster1.xml" Id="R1a21283be11c4f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a17cf4c62d4fef" /><Relationship Type="http://schemas.openxmlformats.org/officeDocument/2006/relationships/notesMaster" Target="/ppt/notesMasters/notesMaster1.xml" Id="R40d8371fd42a4b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04f3ccb0744d88" /><Relationship Type="http://schemas.openxmlformats.org/officeDocument/2006/relationships/notesMaster" Target="/ppt/notesMasters/notesMaster1.xml" Id="R0a403f86df2747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cdfa36246b40f3" /><Relationship Type="http://schemas.openxmlformats.org/officeDocument/2006/relationships/notesMaster" Target="/ppt/notesMasters/notesMaster1.xml" Id="R181b6dbeb76048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39f15d7055481b" /><Relationship Type="http://schemas.openxmlformats.org/officeDocument/2006/relationships/notesMaster" Target="/ppt/notesMasters/notesMaster1.xml" Id="R0ddd63a1c00a4a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a40a7a939d4fe9" /><Relationship Type="http://schemas.openxmlformats.org/officeDocument/2006/relationships/notesMaster" Target="/ppt/notesMasters/notesMaster1.xml" Id="R2deb1f00385b44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7ac89f9e5c4e9c" /><Relationship Type="http://schemas.openxmlformats.org/officeDocument/2006/relationships/notesMaster" Target="/ppt/notesMasters/notesMaster1.xml" Id="Rf209a1cf18264e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e43d487d6c41c6" /><Relationship Type="http://schemas.openxmlformats.org/officeDocument/2006/relationships/notesMaster" Target="/ppt/notesMasters/notesMaster1.xml" Id="R7cac12b88ed74b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06c0a3674c45c4" /><Relationship Type="http://schemas.openxmlformats.org/officeDocument/2006/relationships/notesMaster" Target="/ppt/notesMasters/notesMaster1.xml" Id="R455e069d43a042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40d463022e48dd" /><Relationship Type="http://schemas.openxmlformats.org/officeDocument/2006/relationships/notesMaster" Target="/ppt/notesMasters/notesMaster1.xml" Id="Ra46594bd0c374e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本报告根据已讨论的Word方案整理。项目已搭建可生成结构化描述的Pipeline，后续工作以数据质量、视觉判断和实用交付为重点。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来源：https://github.com/facebookresearch/dinov3 、https://huggingface.co/Qwen/Qwen3.8-27B 、https://recipes.vllm.ai/Qwen/Qwen3.8-27B 。官方确认Qwen3.8-27B支持图像和non-thinking。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使用最新已生成推理架构原图。图内DINOv3代表技术选型，各任务可分别保存权重；定位与结构解析是不同任务。若训练专用RGB凹凸模型，需增加RGB到该模型的连接。只有bbox时不能测量缺陷本体尺寸，仍需轮廓或Mask与标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依据当前SEM技术方案与项目讨论整理。所列数据量是建议起步规模，不代表已完成训练或已获得实验结果。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3f47bde5445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91c1b9a2742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d700d4dba4b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c188ac1c94a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22253bd964c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eadf4b20d4d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212A6F-FB19-49F3-A676-2B46D541C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20EAB1-EC35-4524-BBB7-B5C32D6B09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FC979A-EBC1-4805-8B1E-73E25C83A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0746FC-B478-46D2-88C5-AA931FE3C7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AE56BE-490F-4CA3-9841-CD59029F4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7F5991-D05E-4E7D-B9D7-77B5F1B03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14CFF3-8F1F-4C8D-A82B-C209982616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D6D18D-9727-4ECC-A61A-9D2995B378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B0559B-F0ED-49A6-A7DA-748145A7B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9507F0-3A83-4EA9-A11B-FC40DA9907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9ac204b9fd4407" /><Relationship Type="http://schemas.openxmlformats.org/officeDocument/2006/relationships/slideLayout" Target="/ppt/slideLayouts/slideLayout1.xml" Id="R3bf209d5a9844bd8" /><Relationship Type="http://schemas.openxmlformats.org/officeDocument/2006/relationships/slideLayout" Target="/ppt/slideLayouts/slideLayout2.xml" Id="R484a798fca674aa6" /><Relationship Type="http://schemas.openxmlformats.org/officeDocument/2006/relationships/slideLayout" Target="/ppt/slideLayouts/slideLayout3.xml" Id="R552bf6d3bf5e4625" /><Relationship Type="http://schemas.openxmlformats.org/officeDocument/2006/relationships/slideLayout" Target="/ppt/slideLayouts/slideLayout4.xml" Id="R36d3cff14b8b4a0d" /><Relationship Type="http://schemas.openxmlformats.org/officeDocument/2006/relationships/slideLayout" Target="/ppt/slideLayouts/slideLayout5.xml" Id="Raa51db2e01d7442e" /><Relationship Type="http://schemas.openxmlformats.org/officeDocument/2006/relationships/slideLayout" Target="/ppt/slideLayouts/slideLayout6.xml" Id="R3a1afb17dd0e4c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f209d5a9844bd8"/>
    <p:sldLayoutId xmlns:r="http://schemas.openxmlformats.org/officeDocument/2006/relationships" id="2147483650" r:id="R484a798fca674aa6"/>
    <p:sldLayoutId xmlns:r="http://schemas.openxmlformats.org/officeDocument/2006/relationships" id="2147483651" r:id="R552bf6d3bf5e4625"/>
    <p:sldLayoutId xmlns:r="http://schemas.openxmlformats.org/officeDocument/2006/relationships" id="2147483652" r:id="R36d3cff14b8b4a0d"/>
    <p:sldLayoutId xmlns:r="http://schemas.openxmlformats.org/officeDocument/2006/relationships" id="2147483653" r:id="Raa51db2e01d7442e"/>
    <p:sldLayoutId xmlns:r="http://schemas.openxmlformats.org/officeDocument/2006/relationships" id="2147483654" r:id="R3a1afb17dd0e4c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626e51321f45ce" /><Relationship Type="http://schemas.openxmlformats.org/officeDocument/2006/relationships/notesSlide" Target="/ppt/notesSlides/notesSlide1.xml" Id="R53de34c38f6d40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131e36d5da41a3" /><Relationship Type="http://schemas.openxmlformats.org/officeDocument/2006/relationships/notesSlide" Target="/ppt/notesSlides/notesSlide2.xml" Id="R186e86281a754b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11166ea584f2e" /><Relationship Type="http://schemas.openxmlformats.org/officeDocument/2006/relationships/notesSlide" Target="/ppt/notesSlides/notesSlide3.xml" Id="R3441eabebe8e46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eabab53a44a36" /><Relationship Type="http://schemas.openxmlformats.org/officeDocument/2006/relationships/notesSlide" Target="/ppt/notesSlides/notesSlide4.xml" Id="R9a4d304281cd45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37b71e8e444f1" /><Relationship Type="http://schemas.openxmlformats.org/officeDocument/2006/relationships/image" Target="/ppt/media/image.png" Id="Rf325463541a34774" /><Relationship Type="http://schemas.openxmlformats.org/officeDocument/2006/relationships/notesSlide" Target="/ppt/notesSlides/notesSlide5.xml" Id="R5b31164b82cc4f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67c75e5ad48e2" /><Relationship Type="http://schemas.openxmlformats.org/officeDocument/2006/relationships/notesSlide" Target="/ppt/notesSlides/notesSlide6.xml" Id="R5bf053e3f8b145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042b11afb4aed" /><Relationship Type="http://schemas.openxmlformats.org/officeDocument/2006/relationships/notesSlide" Target="/ppt/notesSlides/notesSlide7.xml" Id="R309e5739807a4a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0ec066e53470a" /><Relationship Type="http://schemas.openxmlformats.org/officeDocument/2006/relationships/notesSlide" Target="/ppt/notesSlides/notesSlide8.xml" Id="R0ddd31b6882741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96e215b5e4a53" /><Relationship Type="http://schemas.openxmlformats.org/officeDocument/2006/relationships/notesSlide" Target="/ppt/notesSlides/notesSlide9.xml" Id="Ra783086bd8b242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56c15f67c4019" /><Relationship Type="http://schemas.openxmlformats.org/officeDocument/2006/relationships/notesSlide" Target="/ppt/notesSlides/notesSlide10.xml" Id="R58543f57879847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ff51942564264" /><Relationship Type="http://schemas.openxmlformats.org/officeDocument/2006/relationships/notesSlide" Target="/ppt/notesSlides/notesSlide11.xml" Id="Rc8a2b599e3c34b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b2178755944c0" /><Relationship Type="http://schemas.openxmlformats.org/officeDocument/2006/relationships/notesSlide" Target="/ppt/notesSlides/notesSlide12.xml" Id="R4d8c0434358c4c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a4102f3e04331" /><Relationship Type="http://schemas.openxmlformats.org/officeDocument/2006/relationships/notesSlide" Target="/ppt/notesSlides/notesSlide13.xml" Id="R248afe24150f45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9e8c4d50d423d" /><Relationship Type="http://schemas.openxmlformats.org/officeDocument/2006/relationships/notesSlide" Target="/ppt/notesSlides/notesSlide14.xml" Id="R8505ba86068c4c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0c2c802104980" /><Relationship Type="http://schemas.openxmlformats.org/officeDocument/2006/relationships/notesSlide" Target="/ppt/notesSlides/notesSlide15.xml" Id="R4b24b1bf99134b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819146664b4d3d" /><Relationship Type="http://schemas.openxmlformats.org/officeDocument/2006/relationships/notesSlide" Target="/ppt/notesSlides/notesSlide16.xml" Id="Rc2807f1afd264e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8b5e3b919446e" /><Relationship Type="http://schemas.openxmlformats.org/officeDocument/2006/relationships/notesSlide" Target="/ppt/notesSlides/notesSlide17.xml" Id="Raab9fc3ad79241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1E778-AF2A-4EA3-978E-42F93C10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SEM缺陷多维度</a:t>
            </a:r>
          </a:p>
          <a:p xmlns:a="http://schemas.openxmlformats.org/drawingml/2006/main">
            <a:pPr>
              <a:defRPr sz="435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结构化描述技术方案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9A664-6FFC-4A4A-9A0D-0E9F7BE4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模型分工与推理架构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144B2-B996-4535-B9B9-C25CC02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数据构建及01至07实施方案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700AB-4BF8-4EED-BF6D-8D0E4BE6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1890298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B3414-6A1F-4F1D-AEB2-859E97E6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项目现状与交付目标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891B6-ECFF-42CC-A21E-E9808327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ECCAF-4916-4707-A60E-177A655A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已有基础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D5918-AD40-4D92-8126-03D0CBF8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正常/异常头和缺陷类型头已接入。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Qwen开启推理可生成结构化描述。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51987-C429-4B86-9D02-53229679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当前瓶颈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6FAA1-06F9-4A11-AEFF-A372AD4F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图案与图案间区域容易混淆。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属性判断不稳定，完整流程耗时偏长。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D28DD-DFF8-422E-A586-CB6467A3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250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85分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789EE-2A83-41BE-8552-2D721555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单份描述达到该评分即通过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CFDE6-EF5F-49D4-A518-5DCD6EA8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250" b="1">
                <a:solidFill>
                  <a:srgbClr val="237B8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237B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237B80"/>
                </a:solidFill>
                <a:latin typeface="Noto Sans CJK SC"/>
                <a:ea typeface="Noto Sans CJK SC"/>
                <a:cs typeface="Noto Sans CJK SC"/>
              </a:rPr>
              <a:t>43 / 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AC2A0-F449-49AD-AE6B-49087564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独立测试案例至少43个通过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EB5E4-9386-4E8E-A336-68969EB3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验收以用户约定的评分、处理速度和使用效果为准</a:t>
            </a:r>
          </a:p>
        </p:txBody>
      </p:sp>
    </p:spTree>
    <p:extLst>
      <p:ext uri="{BB962C8B-B14F-4D97-AF65-F5344CB8AC3E}">
        <p14:creationId xmlns:p14="http://schemas.microsoft.com/office/powerpoint/2010/main" val="1116153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8DF91-9024-4E77-AB01-F3205F57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图像关系与任意图像入口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176AD-B9A1-4878-80DC-23EB0C1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A93E5-8891-4F96-AEE8-62124891E623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286250"/>
                <a:gridCol w="5019675"/>
              </a:tblGrid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图像含义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推理中的用途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含缺陷的主图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全局定位、数量与上下文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I01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与I00配对的正常参考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配准差分、正常结构参照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I02–I04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同一局部缺陷的三探测器图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类型分类、细节与RGB合成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191A5-C0CC-4838-BC56-4023522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任意编号图像进入后，先识别案例和目标，再匹配配套图像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DF932-A9C9-49C4-943C-CD0A1BF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同一目标的三张探测器图不能作为三个独立案例。缺图时记录缺失并限定输出。</a:t>
            </a:r>
          </a:p>
        </p:txBody>
      </p:sp>
    </p:spTree>
    <p:extLst>
      <p:ext uri="{BB962C8B-B14F-4D97-AF65-F5344CB8AC3E}">
        <p14:creationId xmlns:p14="http://schemas.microsoft.com/office/powerpoint/2010/main" val="1690624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055B8-E2B9-48B8-9DDE-F3F4DC7F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DINOv3与关闭thinking的Qwen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299AE-D427-467F-A00E-F7E1A769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EBD0F-532F-4BFA-8CAC-11D62661A10B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381500"/>
                <a:gridCol w="4781550"/>
              </a:tblGrid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DINOv3及任务头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Qwen视觉语言模型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模型作用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提取视觉特征，完成指定任务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结合图像和文字，生成回答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典型输出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类别、目标框、分割区域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外形、纹理、交互和报告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适配方式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任务标签训练，按需微调骨干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提示词、示例、视觉结果辅助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关闭thinking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不涉及语言推理模式开关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官方支持non-thinking，仍可看图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A5AF4-1D98-492B-8745-9CD886D1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关闭thinking不会把Qwen变成视觉分类器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F10AE-BC92-41CA-8D07-09AD98F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Meta将DINOv3定位为自监督通用视觉骨干；SEM任务仍需适配与验证。</a:t>
            </a:r>
          </a:p>
        </p:txBody>
      </p:sp>
    </p:spTree>
    <p:extLst>
      <p:ext uri="{BB962C8B-B14F-4D97-AF65-F5344CB8AC3E}">
        <p14:creationId xmlns:p14="http://schemas.microsoft.com/office/powerpoint/2010/main" val="1546270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6BD95-FABD-4480-9450-01E84726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完整推理架构与技术价值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37F43-AF2B-49F4-8D9E-9FE1DAF1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A4152-CBD1-4831-AD0B-705EEB9B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正常参考提供结构依据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AF3C8-D203-4603-8729-85C3300B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用I01辅助定位异常，区分图案与背景，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为交互对象判断提供依据。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EBB77-6968-44F3-9F95-111701A2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多探测器信息辅助凹凸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FC79-1E38-4925-B714-9960C176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将同一目标的探测器图合成RGB，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利用固定成像条件下的方向线索。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688BB-2DB9-4564-8FD0-60C3AB3A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视觉判断与语言表达协同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7B85A-F47B-40F0-8DA9-6F500C5D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任务模块提供判断，程序提供测量，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Qwen结合图像形成结构化报告。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6448F-9FB4-4829-BACA-D7C7EC11B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5463541a34774"/>
          <a:stretch xmlns:a="http://schemas.openxmlformats.org/drawingml/2006/main"/>
        </p:blipFill>
        <p:spPr>
          <a:xfrm xmlns:a="http://schemas.openxmlformats.org/drawingml/2006/main">
            <a:off x="7181850" y="1000465"/>
            <a:ext cx="4238625" cy="57524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60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4BF85-A239-485E-B475-FA1ACFD8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01 数据整理与训练集合划分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36926-B5EC-41D8-B2EB-46D8DFC0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F6AB9-4C8B-4DE7-A3E4-E6C79CC5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按案例恢复数据关系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E5272-3CCE-4197-AF24-7D67332E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核对I00/I01配对。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确认I02–I04对应同一缺陷。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公司类别标签优先对应局部目标。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E123E-3AC8-4582-A0DF-F650E792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一份案例库支持不同任务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3C803-01E0-429A-B2D1-E53920BD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分类、定位、结构和属性分别标注。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并非每张图都必须拥有全部标签。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同一案例的图像与增强数据固定同组。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E2446-A4D8-4CC2-B6FC-136CDCFE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先按案例或更高层级分组，再划分训练、验证与测试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8C0A9-9DEC-46C5-AA8F-A0A9B50A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旧数据：训练集5100张，总量约7286张，混有主图与局部图。</a:t>
            </a:r>
          </a:p>
          <a:p xmlns:a="http://schemas.openxmlformats.org/drawingml/2006/main">
            <a: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正式重训先清洗标签、排查泄漏，再确定可用数据量。</a:t>
            </a:r>
          </a:p>
        </p:txBody>
      </p:sp>
    </p:spTree>
    <p:extLst>
      <p:ext uri="{BB962C8B-B14F-4D97-AF65-F5344CB8AC3E}">
        <p14:creationId xmlns:p14="http://schemas.microsoft.com/office/powerpoint/2010/main" val="1785497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17754-60A5-4CCC-A823-39FEADA3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02 正常异常与缺陷类型训练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71A9F-7EC8-4E50-804E-63F75BA0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28BA8-04EE-42FE-8540-2B3A5673B082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76750"/>
                <a:gridCol w="4400550"/>
              </a:tblGrid>
              <a:tr h="9525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训练输入与标签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建议起步规模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</a:tr>
              <a:tr h="9525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 正常/异常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I00异常、I01正常</a:t>
                      </a:r>
                    </a:p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先核实每张图的实际状态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流程验证200–300个案例</a:t>
                      </a:r>
                    </a:p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首轮正式1000–2000个案例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 缺陷类型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直接使用I02–I04</a:t>
                      </a:r>
                    </a:p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可先从单缺陷局部图开始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每类先50–100个案例</a:t>
                      </a:r>
                    </a:p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首轮正式每类200–300个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B4146-D429-4A4C-B9AF-0710AD4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A、B和03A可分别开展；类型分类无需等待定位模型成熟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1396F-D9F7-4CA5-8921-BE95106B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数据量按独立案例统计，包含训练、验证和测试。三探测器图不使案例数翻三倍。</a:t>
            </a:r>
          </a:p>
        </p:txBody>
      </p:sp>
    </p:spTree>
    <p:extLst>
      <p:ext uri="{BB962C8B-B14F-4D97-AF65-F5344CB8AC3E}">
        <p14:creationId xmlns:p14="http://schemas.microsoft.com/office/powerpoint/2010/main" val="741432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AA35F-10E1-4353-B503-008B966B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03A 配对参考辅助缺陷定位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D7FC7-4924-4155-8E73-CF95CDB4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224AE-B8AE-4A35-AD70-E3DC72A0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像素差分与特征差分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E46B8-7537-4E9D-8A60-6D225434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先配准，再比较像素差分。</a:t>
            </a:r>
          </a:p>
          <a:p xmlns:a="http://schemas.openxmlformats.org/drawingml/2006/main">
            <a: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加入冻结DINOv3的空间特征差分对照。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6FF99-053D-4F8D-9563-9878D4D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19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缺陷定位模块与ROI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F81AD-9E4B-47C0-ADEA-7B1F563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候选框经人工确认，形成定位数据。</a:t>
            </a:r>
          </a:p>
          <a:p xmlns:a="http://schemas.openxmlformats.org/drawingml/2006/main">
            <a: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按需训练检测模块，再输出框与ROI。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2703F-4131-47C5-91AB-AC2CC58F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先用150–300组配对图检查流程，再按失效场景补标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018BF-3452-4411-9BAA-D2FA980C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官方检测入口采用ViT-7B/16与COCO权重，不能直接套用到ViT-B/16。</a:t>
            </a:r>
          </a:p>
          <a:p xmlns:a="http://schemas.openxmlformats.org/drawingml/2006/main">
            <a: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现有MLP分类头不输出框；SEM定位需另行实现并验证。</a:t>
            </a:r>
          </a:p>
        </p:txBody>
      </p:sp>
    </p:spTree>
    <p:extLst>
      <p:ext uri="{BB962C8B-B14F-4D97-AF65-F5344CB8AC3E}">
        <p14:creationId xmlns:p14="http://schemas.microsoft.com/office/powerpoint/2010/main" val="1653439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1C826-F482-4534-9BB9-FA37325B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03B 图案与背景的结构理解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DAF25-6FA2-4EA3-B896-511926BD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FAB7F-125F-4526-A6B4-ED0C0A26AC81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76750"/>
                <a:gridCol w="4210050"/>
              </a:tblGrid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做法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希望回答的问题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人工正确区域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给Qwen明确的结构区域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结构信息能否改善交互描述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颜色示例参照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原图加语义着色图及说明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模型能否迁移到待测图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结构分割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从单一稳定图案家族开始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能否自动输出可靠的区域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D005C-32F7-4166-AE20-D099B55A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人工语义颜色与探测器RGB必须明确区分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2D187-8C8A-48F8-B88D-CC7836AC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无图案图像采用“无图案背景区”。先试20–30个案例，分割试验可从50–100张I01起步。</a:t>
            </a:r>
          </a:p>
        </p:txBody>
      </p:sp>
    </p:spTree>
    <p:extLst>
      <p:ext uri="{BB962C8B-B14F-4D97-AF65-F5344CB8AC3E}">
        <p14:creationId xmlns:p14="http://schemas.microsoft.com/office/powerpoint/2010/main" val="240675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F7C39-7D63-4B0C-819C-B8E3B1D6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04 视觉结果接回现有Pipeline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3DA68-F11F-4EE7-9B52-FB2FCEB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E3DBA-F34A-44A8-AEF3-7D8691E6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逐项接入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3C5D0-38E9-44E5-AD60-EFCA6093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类别、位置和目标ID。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正常结构信息及对应局部图。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RGB及明确的方向说明。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D85BE-17ED-42C3-9A5F-E4FEC3BF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逐版本对比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5B55-991E-42C8-B281-FB1AE015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同一批开发案例与评分口径。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一次增加或改变一个因素。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记录字段错误和端到端耗时。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57960-6861-476B-A8FE-54278746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新增任务头的价值，最终由完整报告的质量决定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B2038-BF15-4BD6-8717-A4D7D0B2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类别预测并非绝对真值。结果冲突、目标对应不清或图像证据不足时，保留不确定性。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20251962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FDCE5-B7D6-4B90-82D2-1DD7FAD8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05 外形纹理与交互描述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8D899-FCBE-43A2-85B0-66E6110F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BAA94-11DF-4939-9113-FA97E58E138E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86250"/>
                <a:gridCol w="4591050"/>
              </a:tblGrid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属性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主要观察材料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第一步操作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外形和纹理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清晰局部图、必要的上下文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先用Qwen无推理模式测试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交互对象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I00、I01及结构区域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先区分图案、图案间区域、背景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交互关系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含上下文ROI和原图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描述可见接触或跨越，慎用物理关系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EA155-43C0-41FB-93B6-22379EDA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先试30–50个代表案例，只对持续出错的属性专门补强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C26FE-19E2-445A-A102-C24785F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“位于图案间区域”不等于“嵌入材料”。人工也无法判断的属性，不应强制给出确定标签。</a:t>
            </a:r>
          </a:p>
        </p:txBody>
      </p:sp>
    </p:spTree>
    <p:extLst>
      <p:ext uri="{BB962C8B-B14F-4D97-AF65-F5344CB8AC3E}">
        <p14:creationId xmlns:p14="http://schemas.microsoft.com/office/powerpoint/2010/main" val="19884229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E252C-20FE-4630-8929-0614A3E8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06 多探测器RGB与凹凸判断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D9266-C6F9-42C7-BF0E-BE7FA166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B6845-989D-4AAD-B2EE-301ED0F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先固定成像条件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B3DD6-CD44-4688-B949-DFD96AA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探测器到RGB的通道映射。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三图配准、方向与显示处理。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用专家确认案例检验颜色规则。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D32DF-D5CE-4122-A66D-716516AF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763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再比较输入效果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1B986-5B77-4F8C-BA3C-B3BCB423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288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灰度局部图作为基线。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增加RGB、方向说明和典型示例。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仍不稳定时，再考虑专用凹凸模型。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60C8-69DC-4023-9481-0EC407B3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颜色方向是当前成像条件下的待验证经验规则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B5C0C-C755-4C9C-89B6-3E89E767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用户观察：凸起左下偏红、右上偏绿，凹陷相反。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正常图案边缘也可能出现色差，需要结合正常参照判断。</a:t>
            </a:r>
          </a:p>
        </p:txBody>
      </p:sp>
    </p:spTree>
    <p:extLst>
      <p:ext uri="{BB962C8B-B14F-4D97-AF65-F5344CB8AC3E}">
        <p14:creationId xmlns:p14="http://schemas.microsoft.com/office/powerpoint/2010/main" val="19571929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A8766-4EE3-49A7-9BFA-40B4658B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位置方向与尺寸的程序测量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DE8D7-4D72-47CE-8619-125E484E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F2CCC-DD83-4116-865D-4205B4C159F9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191000"/>
                <a:gridCol w="4210050"/>
              </a:tblGrid>
              <a:tr h="80962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能否直接当作缺陷尺寸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</a:tr>
              <a:tr h="8096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扩展ROI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保留缺陷及交互上下文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不能，包含正常区域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紧贴目标的bbox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定位及框宽高估计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仅能表述框的尺寸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8096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缺陷轮廓或Mask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方向、面积及约定长短轴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结合尺度标定后测量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D8E0C-C774-4403-9235-198B1876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Qwen负责表达计算结果，测量值由程序提供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617E0-AC60-409C-B0F8-9D939AFC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以输入图左下角为原点，坐标归一化0–1000；比例尺用于物理尺寸换算。</a:t>
            </a:r>
          </a:p>
        </p:txBody>
      </p:sp>
    </p:spTree>
    <p:extLst>
      <p:ext uri="{BB962C8B-B14F-4D97-AF65-F5344CB8AC3E}">
        <p14:creationId xmlns:p14="http://schemas.microsoft.com/office/powerpoint/2010/main" val="70871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49C37-6A0C-4710-A272-7E9FEDA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DINOv3可共享骨干，也可分别微调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14392-D22A-4F9F-B718-53ACC2F4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B0199-79CC-46B4-9E62-9112D5ED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冻结骨干加独立头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ED21A-3986-42E9-81D0-FBFD84DD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骨干冻结，各头可以先后训练。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同一输入与预处理可共享特征。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训练新头不会改动旧头和骨干。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670FB-26AD-4446-A102-1A3C8F39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多个模型分别微调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C4D12-3FB7-486E-BB17-7DF8D23F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需要解冻时，可复制骨干分别训练。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每个任务保存完整权重，避免相互覆盖。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单GPU并发不一定更快，应实测延迟。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70D58-5381-4A65-9E4F-A6AC6FBC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先做冻结骨干基线，效果不足的任务再单独微调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D597E-E985-4411-814C-033522AC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图中DINOv3表示技术组件，不强制只有一个模型；共享骨干更新后须复测旧任务。</a:t>
            </a:r>
          </a:p>
        </p:txBody>
      </p:sp>
    </p:spTree>
    <p:extLst>
      <p:ext uri="{BB962C8B-B14F-4D97-AF65-F5344CB8AC3E}">
        <p14:creationId xmlns:p14="http://schemas.microsoft.com/office/powerpoint/2010/main" val="12028112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21BD8-5D18-4F20-A8DC-4A17AF96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07 完整流程评估与速度优化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DD784-2C02-40BF-85AC-DDAC9733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D2E30-C3D2-4689-B060-050478F5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常规案例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B178F-C1B1-4495-998C-A1ABC903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采用验证有效的输入组合。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无推理模式达到要求时直接使用。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程序填入固定字段与测量结果。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E0516-C1E4-4A8A-BB63-4C80457B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困难案例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3154A-3D95-480F-8757-2C1E1346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结果冲突、图像不清或结构陌生。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按需开启推理或人工复核。</a:t>
            </a:r>
          </a:p>
          <a:p xmlns:a="http://schemas.openxmlformats.org/drawingml/2006/main">
            <a:pPr>
              <a:def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增加推理不能补回缺失的图像证据。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45C37-DC05-4D09-B45A-EB44919F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推理模式由质量与速度决定，不以关闭thinking为硬性目标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3CCAB-541D-4490-8402-67312B0E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同时记录完整报告通过率、每项错误、端到端延时及人工复核比例。</a:t>
            </a:r>
          </a:p>
        </p:txBody>
      </p:sp>
    </p:spTree>
    <p:extLst>
      <p:ext uri="{BB962C8B-B14F-4D97-AF65-F5344CB8AC3E}">
        <p14:creationId xmlns:p14="http://schemas.microsoft.com/office/powerpoint/2010/main" val="18119388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4B53C-0E32-48BF-8B80-32D508B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数据准备的优先顺序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9071B-3968-48A8-A539-BCD33B04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1863C-9A7C-4E8C-9DC1-4772192BED58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715000"/>
                <a:gridCol w="3543300"/>
              </a:tblGrid>
              <a:tr h="833438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优先级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需要专家或数据方提供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D2E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T w="9525">
                      <a:solidFill>
                        <a:srgbClr val="D8DEE7"/>
                      </a:solidFill>
                      <a:prstDash val="solid"/>
                    </a:lnT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E7EDF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高发代表类别与类别边界</a:t>
                      </a:r>
                    </a:p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完整案例图及Layer、尺度信息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清洗数据，重建分类基线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随后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定位框、正常结构区域</a:t>
                      </a:r>
                    </a:p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配对质量与失效场景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建立03A和03B的训练与评估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按错误补充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7"/>
                      </a:solidFill>
                      <a:prstDash val="solid"/>
                    </a:lnL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外形、纹理、交互与凹凸的代表例</a:t>
                      </a:r>
                    </a:p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必要的缺陷轮廓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57667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针对性补强05、06与测量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7"/>
                      </a:solidFill>
                      <a:prstDash val="solid"/>
                    </a:lnR>
                    <a:lnB w="9525">
                      <a:solidFill>
                        <a:srgbClr val="D8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0FA1D-E8E8-40D2-9550-E0EA278B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先确定代表类别并获取新数据，再按任务逐步标注</a:t>
            </a:r>
          </a:p>
        </p:txBody>
      </p:sp>
    </p:spTree>
    <p:extLst>
      <p:ext uri="{BB962C8B-B14F-4D97-AF65-F5344CB8AC3E}">
        <p14:creationId xmlns:p14="http://schemas.microsoft.com/office/powerpoint/2010/main" val="7123946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2DC78-4EAD-463C-8535-62A17AE7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D2E4A"/>
                </a:solidFill>
                <a:latin typeface="Noto Sans CJK SC"/>
                <a:ea typeface="Noto Sans CJK SC"/>
                <a:cs typeface="Noto Sans CJK SC"/>
              </a:rPr>
              <a:t>交付验证与项目结束条件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B28F7-C920-4088-B7FF-E2B8A888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FBAD1-0B0F-4849-A15E-1D14C65C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50个独立案例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6FB71-0453-4B8E-8CF0-1AA57C3A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每份描述达到85分算通过，至少43个通过。</a:t>
            </a:r>
          </a:p>
          <a:p xmlns:a="http://schemas.openxmlformats.org/drawingml/2006/main">
            <a:pPr>
              <a:defRPr sz="22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评分口径、使用场景与可接受处理时间提前约定。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330E7-D8AC-4C33-AE24-80DEF0F3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85B93"/>
                </a:solidFill>
                <a:latin typeface="Noto Sans CJK SC"/>
                <a:ea typeface="Noto Sans CJK SC"/>
                <a:cs typeface="Noto Sans CJK SC"/>
              </a:rPr>
              <a:t>交付内容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C28FA-9474-4321-A706-8F0566D8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模型权重、推理代码、预处理与测量程序、提示词及运行说明。</a:t>
            </a:r>
          </a:p>
          <a:p xmlns:a="http://schemas.openxmlformats.org/drawingml/2006/main">
            <a:pPr>
              <a:def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7667A"/>
                </a:solidFill>
                <a:latin typeface="Noto Sans CJK SC"/>
                <a:ea typeface="Noto Sans CJK SC"/>
                <a:cs typeface="Noto Sans CJK SC"/>
              </a:rPr>
              <a:t>报告覆盖约定字段，未知内容明确标注。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8C16B-3FF2-4EF4-B967-38C3C6F6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935"/>
                </a:solidFill>
                <a:latin typeface="Noto Sans CJK SC"/>
                <a:ea typeface="Noto Sans CJK SC"/>
                <a:cs typeface="Noto Sans CJK SC"/>
              </a:rPr>
              <a:t>达到约定质量与速度、用户认可实际使用效果，即完成项目</a:t>
            </a:r>
          </a:p>
        </p:txBody>
      </p:sp>
    </p:spTree>
    <p:extLst>
      <p:ext uri="{BB962C8B-B14F-4D97-AF65-F5344CB8AC3E}">
        <p14:creationId xmlns:p14="http://schemas.microsoft.com/office/powerpoint/2010/main" val="1590995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2026-10-15T00:13:31.5310000Z</dcterms:created>
  <dcterms:modified xsi:type="dcterms:W3CDTF">2026-10-15T00:13:31.5310000Z</dcterms:modified>
</coreProperties>
</file>